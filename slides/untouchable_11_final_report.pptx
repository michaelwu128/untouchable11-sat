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5EAE25-0108-4D14-96CB-6750945143A2}" v="7" dt="2025-11-04T17:21:40.1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08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吳 展宇" userId="0ab6ebcae477015e" providerId="LiveId" clId="{84434A1A-A1F0-414F-982A-D54B679D0CE9}"/>
    <pc:docChg chg="custSel modSld">
      <pc:chgData name="吳 展宇" userId="0ab6ebcae477015e" providerId="LiveId" clId="{84434A1A-A1F0-414F-982A-D54B679D0CE9}" dt="2025-11-04T17:21:50.555" v="39" actId="1076"/>
      <pc:docMkLst>
        <pc:docMk/>
      </pc:docMkLst>
      <pc:sldChg chg="modSp mod">
        <pc:chgData name="吳 展宇" userId="0ab6ebcae477015e" providerId="LiveId" clId="{84434A1A-A1F0-414F-982A-D54B679D0CE9}" dt="2025-11-04T17:20:49.778" v="24" actId="255"/>
        <pc:sldMkLst>
          <pc:docMk/>
          <pc:sldMk cId="1777734313" sldId="257"/>
        </pc:sldMkLst>
        <pc:spChg chg="mod">
          <ac:chgData name="吳 展宇" userId="0ab6ebcae477015e" providerId="LiveId" clId="{84434A1A-A1F0-414F-982A-D54B679D0CE9}" dt="2025-11-04T17:20:49.778" v="24" actId="255"/>
          <ac:spMkLst>
            <pc:docMk/>
            <pc:sldMk cId="1777734313" sldId="257"/>
            <ac:spMk id="3" creationId="{A138FA2B-DC1F-8802-E4A0-86ECD96F8A15}"/>
          </ac:spMkLst>
        </pc:spChg>
      </pc:sldChg>
      <pc:sldChg chg="modSp mod">
        <pc:chgData name="吳 展宇" userId="0ab6ebcae477015e" providerId="LiveId" clId="{84434A1A-A1F0-414F-982A-D54B679D0CE9}" dt="2025-11-04T17:20:59.509" v="25" actId="255"/>
        <pc:sldMkLst>
          <pc:docMk/>
          <pc:sldMk cId="1528747807" sldId="259"/>
        </pc:sldMkLst>
        <pc:spChg chg="mod">
          <ac:chgData name="吳 展宇" userId="0ab6ebcae477015e" providerId="LiveId" clId="{84434A1A-A1F0-414F-982A-D54B679D0CE9}" dt="2025-11-04T17:20:59.509" v="25" actId="255"/>
          <ac:spMkLst>
            <pc:docMk/>
            <pc:sldMk cId="1528747807" sldId="259"/>
            <ac:spMk id="4" creationId="{6B30DCEC-10FE-6C93-2FEF-871AB9542AB5}"/>
          </ac:spMkLst>
        </pc:spChg>
      </pc:sldChg>
      <pc:sldChg chg="modSp mod">
        <pc:chgData name="吳 展宇" userId="0ab6ebcae477015e" providerId="LiveId" clId="{84434A1A-A1F0-414F-982A-D54B679D0CE9}" dt="2025-11-04T17:21:18.901" v="29" actId="255"/>
        <pc:sldMkLst>
          <pc:docMk/>
          <pc:sldMk cId="817380154" sldId="260"/>
        </pc:sldMkLst>
        <pc:spChg chg="mod">
          <ac:chgData name="吳 展宇" userId="0ab6ebcae477015e" providerId="LiveId" clId="{84434A1A-A1F0-414F-982A-D54B679D0CE9}" dt="2025-11-04T17:21:13.789" v="28" actId="255"/>
          <ac:spMkLst>
            <pc:docMk/>
            <pc:sldMk cId="817380154" sldId="260"/>
            <ac:spMk id="10" creationId="{2B271E0E-1A49-82E9-408B-D1E87841B49E}"/>
          </ac:spMkLst>
        </pc:spChg>
        <pc:spChg chg="mod">
          <ac:chgData name="吳 展宇" userId="0ab6ebcae477015e" providerId="LiveId" clId="{84434A1A-A1F0-414F-982A-D54B679D0CE9}" dt="2025-11-04T17:21:18.901" v="29" actId="255"/>
          <ac:spMkLst>
            <pc:docMk/>
            <pc:sldMk cId="817380154" sldId="260"/>
            <ac:spMk id="11" creationId="{BD64A598-436A-062B-84DF-4D2CBBEAF67D}"/>
          </ac:spMkLst>
        </pc:spChg>
      </pc:sldChg>
      <pc:sldChg chg="delSp modSp mod">
        <pc:chgData name="吳 展宇" userId="0ab6ebcae477015e" providerId="LiveId" clId="{84434A1A-A1F0-414F-982A-D54B679D0CE9}" dt="2025-11-04T17:21:50.555" v="39" actId="1076"/>
        <pc:sldMkLst>
          <pc:docMk/>
          <pc:sldMk cId="3688419371" sldId="261"/>
        </pc:sldMkLst>
        <pc:spChg chg="mod">
          <ac:chgData name="吳 展宇" userId="0ab6ebcae477015e" providerId="LiveId" clId="{84434A1A-A1F0-414F-982A-D54B679D0CE9}" dt="2025-11-04T17:21:50.555" v="39" actId="1076"/>
          <ac:spMkLst>
            <pc:docMk/>
            <pc:sldMk cId="3688419371" sldId="261"/>
            <ac:spMk id="6" creationId="{1619698D-8514-C30E-FC52-AA8019E9E032}"/>
          </ac:spMkLst>
        </pc:spChg>
        <pc:spChg chg="mod">
          <ac:chgData name="吳 展宇" userId="0ab6ebcae477015e" providerId="LiveId" clId="{84434A1A-A1F0-414F-982A-D54B679D0CE9}" dt="2025-11-04T17:21:40.137" v="37"/>
          <ac:spMkLst>
            <pc:docMk/>
            <pc:sldMk cId="3688419371" sldId="261"/>
            <ac:spMk id="7" creationId="{2CDF183A-EBA3-6288-57EA-8AD2D4F2899F}"/>
          </ac:spMkLst>
        </pc:spChg>
        <pc:spChg chg="del mod">
          <ac:chgData name="吳 展宇" userId="0ab6ebcae477015e" providerId="LiveId" clId="{84434A1A-A1F0-414F-982A-D54B679D0CE9}" dt="2025-11-04T17:21:32.445" v="32" actId="478"/>
          <ac:spMkLst>
            <pc:docMk/>
            <pc:sldMk cId="3688419371" sldId="261"/>
            <ac:spMk id="8" creationId="{19FC2B0E-16C7-D837-D0B8-32F7CDED24AC}"/>
          </ac:spMkLst>
        </pc:spChg>
      </pc:sldChg>
      <pc:sldChg chg="modSp mod">
        <pc:chgData name="吳 展宇" userId="0ab6ebcae477015e" providerId="LiveId" clId="{84434A1A-A1F0-414F-982A-D54B679D0CE9}" dt="2025-11-04T17:21:07.773" v="27" actId="255"/>
        <pc:sldMkLst>
          <pc:docMk/>
          <pc:sldMk cId="1016570648" sldId="263"/>
        </pc:sldMkLst>
        <pc:spChg chg="mod">
          <ac:chgData name="吳 展宇" userId="0ab6ebcae477015e" providerId="LiveId" clId="{84434A1A-A1F0-414F-982A-D54B679D0CE9}" dt="2025-11-04T17:21:07.773" v="27" actId="255"/>
          <ac:spMkLst>
            <pc:docMk/>
            <pc:sldMk cId="1016570648" sldId="263"/>
            <ac:spMk id="7" creationId="{70688874-8E57-DA8F-430F-CE682EAE7C30}"/>
          </ac:spMkLst>
        </pc:spChg>
      </pc:sldChg>
    </pc:docChg>
  </pc:docChgLst>
  <pc:docChgLst>
    <pc:chgData name="吳 展宇" userId="0ab6ebcae477015e" providerId="LiveId" clId="{4B8EE13E-52F3-4788-A68B-26E1EFA207CB}"/>
    <pc:docChg chg="undo custSel modSld">
      <pc:chgData name="吳 展宇" userId="0ab6ebcae477015e" providerId="LiveId" clId="{4B8EE13E-52F3-4788-A68B-26E1EFA207CB}" dt="2025-11-04T08:16:01.209" v="1021" actId="14100"/>
      <pc:docMkLst>
        <pc:docMk/>
      </pc:docMkLst>
      <pc:sldChg chg="addSp modSp mod">
        <pc:chgData name="吳 展宇" userId="0ab6ebcae477015e" providerId="LiveId" clId="{4B8EE13E-52F3-4788-A68B-26E1EFA207CB}" dt="2025-11-04T08:16:01.209" v="1021" actId="14100"/>
        <pc:sldMkLst>
          <pc:docMk/>
          <pc:sldMk cId="1777734313" sldId="257"/>
        </pc:sldMkLst>
        <pc:spChg chg="add mod">
          <ac:chgData name="吳 展宇" userId="0ab6ebcae477015e" providerId="LiveId" clId="{4B8EE13E-52F3-4788-A68B-26E1EFA207CB}" dt="2025-11-04T08:16:01.209" v="1021" actId="14100"/>
          <ac:spMkLst>
            <pc:docMk/>
            <pc:sldMk cId="1777734313" sldId="257"/>
            <ac:spMk id="3" creationId="{A138FA2B-DC1F-8802-E4A0-86ECD96F8A15}"/>
          </ac:spMkLst>
        </pc:spChg>
      </pc:sldChg>
      <pc:sldChg chg="addSp modSp mod">
        <pc:chgData name="吳 展宇" userId="0ab6ebcae477015e" providerId="LiveId" clId="{4B8EE13E-52F3-4788-A68B-26E1EFA207CB}" dt="2025-11-04T08:01:02.912" v="109" actId="14100"/>
        <pc:sldMkLst>
          <pc:docMk/>
          <pc:sldMk cId="1528747807" sldId="259"/>
        </pc:sldMkLst>
        <pc:spChg chg="add mod">
          <ac:chgData name="吳 展宇" userId="0ab6ebcae477015e" providerId="LiveId" clId="{4B8EE13E-52F3-4788-A68B-26E1EFA207CB}" dt="2025-11-04T08:01:02.912" v="109" actId="14100"/>
          <ac:spMkLst>
            <pc:docMk/>
            <pc:sldMk cId="1528747807" sldId="259"/>
            <ac:spMk id="4" creationId="{6B30DCEC-10FE-6C93-2FEF-871AB9542AB5}"/>
          </ac:spMkLst>
        </pc:spChg>
      </pc:sldChg>
      <pc:sldChg chg="addSp modSp mod">
        <pc:chgData name="吳 展宇" userId="0ab6ebcae477015e" providerId="LiveId" clId="{4B8EE13E-52F3-4788-A68B-26E1EFA207CB}" dt="2025-11-04T08:06:37.979" v="444" actId="20577"/>
        <pc:sldMkLst>
          <pc:docMk/>
          <pc:sldMk cId="817380154" sldId="260"/>
        </pc:sldMkLst>
        <pc:spChg chg="add mod">
          <ac:chgData name="吳 展宇" userId="0ab6ebcae477015e" providerId="LiveId" clId="{4B8EE13E-52F3-4788-A68B-26E1EFA207CB}" dt="2025-11-04T08:04:10.306" v="259" actId="1076"/>
          <ac:spMkLst>
            <pc:docMk/>
            <pc:sldMk cId="817380154" sldId="260"/>
            <ac:spMk id="10" creationId="{2B271E0E-1A49-82E9-408B-D1E87841B49E}"/>
          </ac:spMkLst>
        </pc:spChg>
        <pc:spChg chg="add mod">
          <ac:chgData name="吳 展宇" userId="0ab6ebcae477015e" providerId="LiveId" clId="{4B8EE13E-52F3-4788-A68B-26E1EFA207CB}" dt="2025-11-04T08:06:37.979" v="444" actId="20577"/>
          <ac:spMkLst>
            <pc:docMk/>
            <pc:sldMk cId="817380154" sldId="260"/>
            <ac:spMk id="11" creationId="{BD64A598-436A-062B-84DF-4D2CBBEAF67D}"/>
          </ac:spMkLst>
        </pc:spChg>
      </pc:sldChg>
      <pc:sldChg chg="addSp modSp mod">
        <pc:chgData name="吳 展宇" userId="0ab6ebcae477015e" providerId="LiveId" clId="{4B8EE13E-52F3-4788-A68B-26E1EFA207CB}" dt="2025-11-04T08:14:38.616" v="967" actId="1076"/>
        <pc:sldMkLst>
          <pc:docMk/>
          <pc:sldMk cId="3688419371" sldId="261"/>
        </pc:sldMkLst>
        <pc:spChg chg="add">
          <ac:chgData name="吳 展宇" userId="0ab6ebcae477015e" providerId="LiveId" clId="{4B8EE13E-52F3-4788-A68B-26E1EFA207CB}" dt="2025-11-04T08:07:02.679" v="445" actId="139"/>
          <ac:spMkLst>
            <pc:docMk/>
            <pc:sldMk cId="3688419371" sldId="261"/>
            <ac:spMk id="5" creationId="{11338047-D01B-FE33-2882-769884D9AF7C}"/>
          </ac:spMkLst>
        </pc:spChg>
        <pc:spChg chg="add mod">
          <ac:chgData name="吳 展宇" userId="0ab6ebcae477015e" providerId="LiveId" clId="{4B8EE13E-52F3-4788-A68B-26E1EFA207CB}" dt="2025-11-04T08:08:03.508" v="513" actId="1076"/>
          <ac:spMkLst>
            <pc:docMk/>
            <pc:sldMk cId="3688419371" sldId="261"/>
            <ac:spMk id="6" creationId="{1619698D-8514-C30E-FC52-AA8019E9E032}"/>
          </ac:spMkLst>
        </pc:spChg>
        <pc:spChg chg="add mod">
          <ac:chgData name="吳 展宇" userId="0ab6ebcae477015e" providerId="LiveId" clId="{4B8EE13E-52F3-4788-A68B-26E1EFA207CB}" dt="2025-11-04T08:14:27.008" v="963" actId="1076"/>
          <ac:spMkLst>
            <pc:docMk/>
            <pc:sldMk cId="3688419371" sldId="261"/>
            <ac:spMk id="7" creationId="{2CDF183A-EBA3-6288-57EA-8AD2D4F2899F}"/>
          </ac:spMkLst>
        </pc:spChg>
        <pc:spChg chg="add mod">
          <ac:chgData name="吳 展宇" userId="0ab6ebcae477015e" providerId="LiveId" clId="{4B8EE13E-52F3-4788-A68B-26E1EFA207CB}" dt="2025-11-04T08:14:38.616" v="967" actId="1076"/>
          <ac:spMkLst>
            <pc:docMk/>
            <pc:sldMk cId="3688419371" sldId="261"/>
            <ac:spMk id="8" creationId="{19FC2B0E-16C7-D837-D0B8-32F7CDED24AC}"/>
          </ac:spMkLst>
        </pc:spChg>
        <pc:graphicFrameChg chg="mod">
          <ac:chgData name="吳 展宇" userId="0ab6ebcae477015e" providerId="LiveId" clId="{4B8EE13E-52F3-4788-A68B-26E1EFA207CB}" dt="2025-11-04T08:07:07.044" v="447" actId="1076"/>
          <ac:graphicFrameMkLst>
            <pc:docMk/>
            <pc:sldMk cId="3688419371" sldId="261"/>
            <ac:graphicFrameMk id="4" creationId="{A8EBB8BF-C7CE-2C7C-F887-BB8C32F1FA4E}"/>
          </ac:graphicFrameMkLst>
        </pc:graphicFrameChg>
      </pc:sldChg>
      <pc:sldChg chg="addSp modSp mod">
        <pc:chgData name="吳 展宇" userId="0ab6ebcae477015e" providerId="LiveId" clId="{4B8EE13E-52F3-4788-A68B-26E1EFA207CB}" dt="2025-11-04T08:01:44.648" v="115" actId="1076"/>
        <pc:sldMkLst>
          <pc:docMk/>
          <pc:sldMk cId="1016570648" sldId="263"/>
        </pc:sldMkLst>
        <pc:spChg chg="add mod">
          <ac:chgData name="吳 展宇" userId="0ab6ebcae477015e" providerId="LiveId" clId="{4B8EE13E-52F3-4788-A68B-26E1EFA207CB}" dt="2025-11-04T08:01:44.648" v="115" actId="1076"/>
          <ac:spMkLst>
            <pc:docMk/>
            <pc:sldMk cId="1016570648" sldId="263"/>
            <ac:spMk id="7" creationId="{70688874-8E57-DA8F-430F-CE682EAE7C3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8F622F-6682-8E38-6543-1475873009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Untouchable 11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AC136BA-9798-F670-7935-9ED0E8D140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2800">
                <a:latin typeface="微軟正黑體" panose="020B0604030504040204" pitchFamily="34" charset="-120"/>
                <a:ea typeface="微軟正黑體" panose="020B0604030504040204" pitchFamily="34" charset="-120"/>
              </a:rPr>
              <a:t>吳展宇</a:t>
            </a:r>
          </a:p>
        </p:txBody>
      </p:sp>
    </p:spTree>
    <p:extLst>
      <p:ext uri="{BB962C8B-B14F-4D97-AF65-F5344CB8AC3E}">
        <p14:creationId xmlns:p14="http://schemas.microsoft.com/office/powerpoint/2010/main" val="2549476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74B2D3-B087-1A8A-6B5B-2FCA7EACB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規則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0603B3A-C819-F5BE-1F99-0D625EB92A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135" t="1700"/>
          <a:stretch>
            <a:fillRect/>
          </a:stretch>
        </p:blipFill>
        <p:spPr>
          <a:xfrm>
            <a:off x="1788458" y="2097740"/>
            <a:ext cx="3556747" cy="357257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1853754-FC59-DEF6-8FBD-9689F81A42F4}"/>
              </a:ext>
            </a:extLst>
          </p:cNvPr>
          <p:cNvSpPr txBox="1"/>
          <p:nvPr/>
        </p:nvSpPr>
        <p:spPr>
          <a:xfrm>
            <a:off x="6145640" y="1951672"/>
            <a:ext cx="46926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塊不同的拼圖塊，每一塊剛好都是一個正方體的平面展開圖，棋盤大小共有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種，依照難度依序為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9*17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10*15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、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12*12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，目標要將所有拼圖塊都放進棋盤裡，每一個拼圖塊都可以旋轉、翻面，但任兩塊拼圖塊都不能有任何接觸，不管是邊還是角。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6A49DF1-6480-010D-A940-163E64868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136" y="3853138"/>
            <a:ext cx="1275708" cy="178096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8EAE31C-059E-98B8-FE28-2522690E8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774" y="3889349"/>
            <a:ext cx="2354801" cy="1780967"/>
          </a:xfrm>
          <a:prstGeom prst="rect">
            <a:avLst/>
          </a:prstGeom>
        </p:spPr>
      </p:pic>
      <p:sp>
        <p:nvSpPr>
          <p:cNvPr id="11" name="乘號 10">
            <a:extLst>
              <a:ext uri="{FF2B5EF4-FFF2-40B4-BE49-F238E27FC236}">
                <a16:creationId xmlns:a16="http://schemas.microsoft.com/office/drawing/2014/main" id="{8AE2241C-0AAD-347F-D155-8369CF1BA96E}"/>
              </a:ext>
            </a:extLst>
          </p:cNvPr>
          <p:cNvSpPr/>
          <p:nvPr/>
        </p:nvSpPr>
        <p:spPr>
          <a:xfrm>
            <a:off x="5843247" y="3514828"/>
            <a:ext cx="765054" cy="967633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83236855-F3A6-8CAE-D235-332E4C35B5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2841" y="3675529"/>
            <a:ext cx="566977" cy="646232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A138FA2B-DC1F-8802-E4A0-86ECD96F8A15}"/>
              </a:ext>
            </a:extLst>
          </p:cNvPr>
          <p:cNvSpPr txBox="1"/>
          <p:nvPr/>
        </p:nvSpPr>
        <p:spPr>
          <a:xfrm>
            <a:off x="73623" y="2037959"/>
            <a:ext cx="17148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像這就不是一個符合規則的放置，因為黃色和粉紅色的拼圖塊的角接觸到了</a:t>
            </a:r>
          </a:p>
        </p:txBody>
      </p:sp>
    </p:spTree>
    <p:extLst>
      <p:ext uri="{BB962C8B-B14F-4D97-AF65-F5344CB8AC3E}">
        <p14:creationId xmlns:p14="http://schemas.microsoft.com/office/powerpoint/2010/main" val="1777734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C940C9-0D5E-1DBA-2B68-58B646D20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40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cnf</a:t>
            </a:r>
            <a:r>
              <a:rPr lang="zh-TW" altLang="en-US" sz="4400">
                <a:latin typeface="微軟正黑體" panose="020B0604030504040204" pitchFamily="34" charset="-120"/>
                <a:ea typeface="微軟正黑體" panose="020B0604030504040204" pitchFamily="34" charset="-120"/>
              </a:rPr>
              <a:t>式子建立</a:t>
            </a:r>
            <a:r>
              <a:rPr lang="en-US" altLang="zh-TW" sz="440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440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  <a:r>
              <a:rPr lang="en-US" altLang="zh-TW" sz="440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</a:t>
            </a:r>
            <a:r>
              <a:rPr lang="en-US" altLang="zh-TW" sz="44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4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AAA594-6D25-EC2F-681E-A7899AD0F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905" y="2009382"/>
            <a:ext cx="10562621" cy="4277118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符號：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P=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拼圖塊的總數量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=11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M=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棋盤的總格子數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=153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D=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一個格子的鄰居數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=8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N=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拼圖塊的總放置可能數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=6008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k=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平均每塊拼圖塊的放置數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=N/P=6008/11=546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變數：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v(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p,o,x,y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共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6008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每塊拼圖至少一次：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+…+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  <a:r>
              <a:rPr lang="en-US" altLang="zh-TW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(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  <a:r>
              <a:rPr lang="en-US" altLang="zh-TW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k+2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+…+v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2k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)…(v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N-k+1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N-k+2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+…+v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0" indent="0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O(P)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每塊拼圖至多一次：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(-v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)(-v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… (-v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  <a:r>
              <a:rPr lang="en-US" altLang="zh-TW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)(-v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…(-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  <a:r>
              <a:rPr lang="en-US" altLang="zh-TW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k-1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  <a:r>
              <a:rPr lang="en-US" altLang="zh-TW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	</a:t>
            </a:r>
          </a:p>
          <a:p>
            <a:pPr marL="0" indent="0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O(P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k^2)=O(N^2/P)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不可相鄰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重疊：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(-v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  <a:r>
              <a:rPr lang="en-US" altLang="zh-TW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)…(-v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)(-v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  <a:r>
              <a:rPr lang="en-US" altLang="zh-TW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)…(-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  <a:r>
              <a:rPr lang="en-US" altLang="zh-TW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)(-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  <a:r>
              <a:rPr lang="en-US" altLang="zh-TW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2k+1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)…(-v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N-k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	</a:t>
            </a:r>
            <a:r>
              <a:rPr lang="en-US" altLang="zh-TW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O(P^2*k^2)=O(N^2)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總時間複雜度：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O(P)+ O(N^2/P)+ O(N^2)=</a:t>
            </a:r>
            <a:r>
              <a:rPr lang="en-US" altLang="zh-TW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O(N^2)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10^7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251881E-0BC6-07D0-88CC-2F9E4287B3E3}"/>
              </a:ext>
            </a:extLst>
          </p:cNvPr>
          <p:cNvSpPr txBox="1"/>
          <p:nvPr/>
        </p:nvSpPr>
        <p:spPr>
          <a:xfrm>
            <a:off x="10143629" y="571500"/>
            <a:ext cx="1822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en-US" altLang="zh-TW" sz="240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9*17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為例</a:t>
            </a:r>
          </a:p>
        </p:txBody>
      </p:sp>
    </p:spTree>
    <p:extLst>
      <p:ext uri="{BB962C8B-B14F-4D97-AF65-F5344CB8AC3E}">
        <p14:creationId xmlns:p14="http://schemas.microsoft.com/office/powerpoint/2010/main" val="757634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5AE4F2-4820-B582-069A-7D2EA770E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改進方法</a:t>
            </a:r>
            <a:r>
              <a:rPr lang="en-US" altLang="zh-TW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  <a:r>
              <a:rPr lang="en-US" altLang="zh-TW" sz="4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B</a:t>
            </a:r>
            <a:r>
              <a:rPr lang="en-US" altLang="zh-TW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E8990C-5750-ADAE-F10E-B526B775C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912389"/>
            <a:ext cx="9603275" cy="4153346"/>
          </a:xfrm>
        </p:spPr>
        <p:txBody>
          <a:bodyPr>
            <a:normAutofit fontScale="77500" lnSpcReduction="20000"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引進新的變數：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c(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x,y,p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共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153*11=1683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每塊拼圖至少一次和至多一次跟模型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一樣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O(P)+ </a:t>
            </a:r>
            <a:r>
              <a:rPr lang="en-US" altLang="zh-TW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O(N^2/P)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不可重疊：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(-c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1,1,1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+-c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1,1,2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)(-c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1,1,1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+-c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1,1,3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)…(-c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1,1,1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+-c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1,1,11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)…(-c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9,17,10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+-c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9,17,11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0" indent="0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O(M*P^2)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不可相鄰：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(-c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1,1,1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+-c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1,2,2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)(-c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1,1,1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+-c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2,1,2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)…(- c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1,1,1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+-c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2,2,2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)…</a:t>
            </a:r>
          </a:p>
          <a:p>
            <a:pPr marL="0" indent="0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O(M*(D/2)*P^2) 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V=&gt;c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(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+c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1,1,1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…(-v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+c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9,17,11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0" indent="0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O(N*6)=O(N)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C=&gt;v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(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-c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1,1,1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13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+…)…(-c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9,17,11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567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621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+v</a:t>
            </a:r>
            <a:r>
              <a:rPr lang="en-US" altLang="zh-TW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3215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+…)</a:t>
            </a:r>
          </a:p>
          <a:p>
            <a:pPr marL="0" indent="0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O(M*P)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總時間複雜度：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O(P)+ O(N^2/P)+ O(M*(D/2)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P^2)+O(N)+O(M*P)=</a:t>
            </a:r>
            <a:r>
              <a:rPr lang="en-US" altLang="zh-TW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O(N^2/P)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10^6</a:t>
            </a:r>
          </a:p>
          <a:p>
            <a:pPr marL="0" indent="0"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05CF592-D3A2-7F94-CDD5-8D8B2F6E28F6}"/>
              </a:ext>
            </a:extLst>
          </p:cNvPr>
          <p:cNvSpPr txBox="1"/>
          <p:nvPr/>
        </p:nvSpPr>
        <p:spPr>
          <a:xfrm>
            <a:off x="10140454" y="573686"/>
            <a:ext cx="1828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en-US" altLang="zh-TW" sz="240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9*17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為例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B30DCEC-10FE-6C93-2FEF-871AB9542AB5}"/>
              </a:ext>
            </a:extLst>
          </p:cNvPr>
          <p:cNvSpPr txBox="1"/>
          <p:nvPr/>
        </p:nvSpPr>
        <p:spPr>
          <a:xfrm>
            <a:off x="915893" y="573686"/>
            <a:ext cx="2047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改善了模型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中的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O(N^2)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的問題</a:t>
            </a:r>
          </a:p>
        </p:txBody>
      </p:sp>
    </p:spTree>
    <p:extLst>
      <p:ext uri="{BB962C8B-B14F-4D97-AF65-F5344CB8AC3E}">
        <p14:creationId xmlns:p14="http://schemas.microsoft.com/office/powerpoint/2010/main" val="1528747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BD93F-6F17-CCEA-0B63-6EF7C1875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400B3D-6F41-5B70-4482-07751B32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400">
                <a:latin typeface="微軟正黑體" panose="020B0604030504040204" pitchFamily="34" charset="-120"/>
                <a:ea typeface="微軟正黑體" panose="020B0604030504040204" pitchFamily="34" charset="-120"/>
              </a:rPr>
              <a:t>改進方法</a:t>
            </a:r>
            <a:r>
              <a:rPr lang="en-US" altLang="zh-TW" sz="440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440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  <a:r>
              <a:rPr lang="en-US" altLang="zh-TW" sz="440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</a:t>
            </a:r>
            <a:r>
              <a:rPr lang="en-US" altLang="zh-TW" sz="44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4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781847-8CCA-2121-8C28-2DAE7DBB5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558" y="1977632"/>
            <a:ext cx="11644784" cy="3921518"/>
          </a:xfrm>
        </p:spPr>
        <p:txBody>
          <a:bodyPr>
            <a:normAutofit fontScale="70000" lnSpcReduction="20000"/>
          </a:bodyPr>
          <a:lstStyle/>
          <a:p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每塊拼圖至少一次、不可重疊、不可相鄰、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v=&gt;c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c=&gt;v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和模型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一樣</a:t>
            </a:r>
            <a:endParaRPr lang="en-US" altLang="zh-TW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O(P)+ O(M*P^2)+ </a:t>
            </a:r>
            <a:r>
              <a:rPr lang="en-US" altLang="zh-TW" sz="2600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O(M*(D/2)</a:t>
            </a:r>
            <a:r>
              <a:rPr lang="zh-TW" altLang="en-US" sz="2600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2600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P^2)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 O(N)+ O(M*P)</a:t>
            </a:r>
          </a:p>
          <a:p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每塊拼圖至多一次：使用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Sequential Counter Encoding</a:t>
            </a:r>
          </a:p>
          <a:p>
            <a:pPr marL="0" indent="0">
              <a:buNone/>
            </a:pP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加入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(k-1)*11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個變數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</a:p>
          <a:p>
            <a:pPr marL="0" indent="0">
              <a:buNone/>
            </a:pP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(-v</a:t>
            </a:r>
            <a:r>
              <a:rPr lang="en-US" altLang="zh-TW" sz="26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+s</a:t>
            </a:r>
            <a:r>
              <a:rPr lang="en-US" altLang="zh-TW" sz="26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)(-v</a:t>
            </a:r>
            <a:r>
              <a:rPr lang="en-US" altLang="zh-TW" sz="26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+s</a:t>
            </a:r>
            <a:r>
              <a:rPr lang="en-US" altLang="zh-TW" sz="26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)…(-</a:t>
            </a:r>
            <a:r>
              <a:rPr lang="en-US" altLang="zh-TW" sz="2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  <a:r>
              <a:rPr lang="en-US" altLang="zh-TW" sz="2600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k-1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+s</a:t>
            </a:r>
            <a:r>
              <a:rPr lang="en-US" altLang="zh-TW" sz="26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k-1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0" indent="0">
              <a:buNone/>
            </a:pP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(-s</a:t>
            </a:r>
            <a:r>
              <a:rPr lang="en-US" altLang="zh-TW" sz="26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+s</a:t>
            </a:r>
            <a:r>
              <a:rPr lang="en-US" altLang="zh-TW" sz="26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)(-s</a:t>
            </a:r>
            <a:r>
              <a:rPr lang="en-US" altLang="zh-TW" sz="26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+s</a:t>
            </a:r>
            <a:r>
              <a:rPr lang="en-US" altLang="zh-TW" sz="26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)…(-</a:t>
            </a:r>
            <a:r>
              <a:rPr lang="en-US" altLang="zh-TW" sz="2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en-US" altLang="zh-TW" sz="2600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k-2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+s</a:t>
            </a:r>
            <a:r>
              <a:rPr lang="en-US" altLang="zh-TW" sz="26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k-1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0" indent="0">
              <a:buNone/>
            </a:pP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(-v2+s1)(-v3+s2)…(-</a:t>
            </a:r>
            <a:r>
              <a:rPr lang="en-US" altLang="zh-TW" sz="2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  <a:r>
              <a:rPr lang="en-US" altLang="zh-TW" sz="2600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+s</a:t>
            </a:r>
            <a:r>
              <a:rPr lang="en-US" altLang="zh-TW" sz="26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k-1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0" indent="0">
              <a:buNone/>
            </a:pP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O(P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(3k-4))=O(P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k)=O(N)</a:t>
            </a:r>
          </a:p>
          <a:p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總時間複雜度：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O(P)+ O(M*P^2)+ O(M*(D/2)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P^2)+ O(N)+ O(M*P)+ O(N)=</a:t>
            </a:r>
            <a:r>
              <a:rPr lang="en-US" altLang="zh-TW" sz="26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O(M*(D/2)</a:t>
            </a:r>
            <a:r>
              <a:rPr lang="zh-TW" altLang="en-US" sz="26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26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P^2)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10^5</a:t>
            </a:r>
          </a:p>
          <a:p>
            <a:endParaRPr lang="en-US" altLang="zh-TW" baseline="-25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C9A3DF0-E351-BEFC-931B-265AC6C8AD61}"/>
              </a:ext>
            </a:extLst>
          </p:cNvPr>
          <p:cNvSpPr txBox="1"/>
          <p:nvPr/>
        </p:nvSpPr>
        <p:spPr>
          <a:xfrm>
            <a:off x="10134724" y="573686"/>
            <a:ext cx="17132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en-US" altLang="zh-TW" sz="240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9*17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為例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0688874-8E57-DA8F-430F-CE682EAE7C30}"/>
              </a:ext>
            </a:extLst>
          </p:cNvPr>
          <p:cNvSpPr txBox="1"/>
          <p:nvPr/>
        </p:nvSpPr>
        <p:spPr>
          <a:xfrm>
            <a:off x="766399" y="635684"/>
            <a:ext cx="2047439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改善了模型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中的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O(N^2/P)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的問題</a:t>
            </a:r>
          </a:p>
        </p:txBody>
      </p:sp>
    </p:spTree>
    <p:extLst>
      <p:ext uri="{BB962C8B-B14F-4D97-AF65-F5344CB8AC3E}">
        <p14:creationId xmlns:p14="http://schemas.microsoft.com/office/powerpoint/2010/main" val="1016570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5984B-24BB-4E95-5B7F-CB8C467B6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結果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49F80A0-2C5A-B3B6-A7A9-5A1CC6A87A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4530" r="67955" b="8640"/>
          <a:stretch>
            <a:fillRect/>
          </a:stretch>
        </p:blipFill>
        <p:spPr>
          <a:xfrm>
            <a:off x="764341" y="2316925"/>
            <a:ext cx="3675809" cy="262914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F6EEB20-7847-1C58-D1D8-200048A962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337" r="62784" b="9757"/>
          <a:stretch>
            <a:fillRect/>
          </a:stretch>
        </p:blipFill>
        <p:spPr>
          <a:xfrm>
            <a:off x="4648433" y="2316925"/>
            <a:ext cx="3248658" cy="282211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E3276B3-3C8D-A4F3-9732-25349311D0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416" r="72784" b="8878"/>
          <a:stretch>
            <a:fillRect/>
          </a:stretch>
        </p:blipFill>
        <p:spPr>
          <a:xfrm>
            <a:off x="8202124" y="2316925"/>
            <a:ext cx="2729647" cy="3305209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1ECD7D7-5963-8EA6-6854-008EAF2691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0760" r="57351"/>
          <a:stretch>
            <a:fillRect/>
          </a:stretch>
        </p:blipFill>
        <p:spPr>
          <a:xfrm>
            <a:off x="6452230" y="5370394"/>
            <a:ext cx="1444861" cy="121806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E5202DB-4EE0-4146-2B2E-4C946A7FB5F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9748" r="58750" b="1341"/>
          <a:stretch>
            <a:fillRect/>
          </a:stretch>
        </p:blipFill>
        <p:spPr>
          <a:xfrm>
            <a:off x="4651138" y="5370394"/>
            <a:ext cx="1444862" cy="125077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199743E-DB1F-877F-46CA-223ABFD8EC1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1928" r="69049" b="9210"/>
          <a:stretch>
            <a:fillRect/>
          </a:stretch>
        </p:blipFill>
        <p:spPr>
          <a:xfrm>
            <a:off x="746150" y="5281962"/>
            <a:ext cx="1683151" cy="121442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C7D03D0-3A43-9B33-B8F1-E750C7926A2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8113" r="68265"/>
          <a:stretch>
            <a:fillRect/>
          </a:stretch>
        </p:blipFill>
        <p:spPr>
          <a:xfrm>
            <a:off x="2611757" y="5281962"/>
            <a:ext cx="1683151" cy="122767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B271E0E-1A49-82E9-408B-D1E87841B49E}"/>
              </a:ext>
            </a:extLst>
          </p:cNvPr>
          <p:cNvSpPr txBox="1"/>
          <p:nvPr/>
        </p:nvSpPr>
        <p:spPr>
          <a:xfrm>
            <a:off x="417855" y="221206"/>
            <a:ext cx="2744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這三種棋盤大小的拼圖都有不只一個的解，所以用不同的模型去解可能會得到不同的放置方法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D64A598-436A-062B-84DF-4D2CBBEAF67D}"/>
              </a:ext>
            </a:extLst>
          </p:cNvPr>
          <p:cNvSpPr txBox="1"/>
          <p:nvPr/>
        </p:nvSpPr>
        <p:spPr>
          <a:xfrm>
            <a:off x="8652546" y="221206"/>
            <a:ext cx="2744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如果想要解出所有的解，可以在每次解出一個解後，加入一個子句來把這個解給排除掉</a:t>
            </a:r>
          </a:p>
        </p:txBody>
      </p:sp>
    </p:spTree>
    <p:extLst>
      <p:ext uri="{BB962C8B-B14F-4D97-AF65-F5344CB8AC3E}">
        <p14:creationId xmlns:p14="http://schemas.microsoft.com/office/powerpoint/2010/main" val="817380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ACFA1B-93D3-2F55-7240-484B5EEF3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400">
                <a:latin typeface="微軟正黑體" panose="020B0604030504040204" pitchFamily="34" charset="-120"/>
                <a:ea typeface="微軟正黑體" panose="020B0604030504040204" pitchFamily="34" charset="-120"/>
              </a:rPr>
              <a:t>花費時間比較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A8EBB8BF-C7CE-2C7C-F887-BB8C32F1FA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7674550"/>
              </p:ext>
            </p:extLst>
          </p:nvPr>
        </p:nvGraphicFramePr>
        <p:xfrm>
          <a:off x="1450975" y="2016125"/>
          <a:ext cx="9604372" cy="3139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1093">
                  <a:extLst>
                    <a:ext uri="{9D8B030D-6E8A-4147-A177-3AD203B41FA5}">
                      <a16:colId xmlns:a16="http://schemas.microsoft.com/office/drawing/2014/main" val="1846807464"/>
                    </a:ext>
                  </a:extLst>
                </a:gridCol>
                <a:gridCol w="2401093">
                  <a:extLst>
                    <a:ext uri="{9D8B030D-6E8A-4147-A177-3AD203B41FA5}">
                      <a16:colId xmlns:a16="http://schemas.microsoft.com/office/drawing/2014/main" val="525163069"/>
                    </a:ext>
                  </a:extLst>
                </a:gridCol>
                <a:gridCol w="2401093">
                  <a:extLst>
                    <a:ext uri="{9D8B030D-6E8A-4147-A177-3AD203B41FA5}">
                      <a16:colId xmlns:a16="http://schemas.microsoft.com/office/drawing/2014/main" val="4056423952"/>
                    </a:ext>
                  </a:extLst>
                </a:gridCol>
                <a:gridCol w="2401093">
                  <a:extLst>
                    <a:ext uri="{9D8B030D-6E8A-4147-A177-3AD203B41FA5}">
                      <a16:colId xmlns:a16="http://schemas.microsoft.com/office/drawing/2014/main" val="2089624533"/>
                    </a:ext>
                  </a:extLst>
                </a:gridCol>
              </a:tblGrid>
              <a:tr h="747031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9*17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10*15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12*12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399250"/>
                  </a:ext>
                </a:extLst>
              </a:tr>
              <a:tr h="74703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模型</a:t>
                      </a:r>
                      <a:r>
                        <a:rPr lang="en-US" altLang="zh-TW" sz="240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7min</a:t>
                      </a:r>
                    </a:p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24min(</a:t>
                      </a:r>
                      <a:r>
                        <a:rPr lang="zh-TW" altLang="en-US" sz="2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用</a:t>
                      </a:r>
                      <a:r>
                        <a:rPr lang="en-US" altLang="zh-TW" sz="24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minisat</a:t>
                      </a:r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306min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sz="24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解不出來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599977"/>
                  </a:ext>
                </a:extLst>
              </a:tr>
              <a:tr h="74703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模型</a:t>
                      </a:r>
                      <a:r>
                        <a:rPr lang="en-US" altLang="zh-TW" sz="240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3min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14min(</a:t>
                      </a:r>
                      <a:r>
                        <a:rPr lang="zh-TW" altLang="en-US" sz="2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用</a:t>
                      </a:r>
                      <a:r>
                        <a:rPr lang="en-US" altLang="zh-TW" sz="24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minisat</a:t>
                      </a:r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4min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解不出來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825104"/>
                  </a:ext>
                </a:extLst>
              </a:tr>
              <a:tr h="74703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模型</a:t>
                      </a:r>
                      <a:r>
                        <a:rPr lang="en-US" altLang="zh-TW" sz="240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25min</a:t>
                      </a:r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208min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222942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6801A454-326B-47EB-CBFF-11F1D23D8E4B}"/>
              </a:ext>
            </a:extLst>
          </p:cNvPr>
          <p:cNvSpPr txBox="1"/>
          <p:nvPr/>
        </p:nvSpPr>
        <p:spPr>
          <a:xfrm>
            <a:off x="9467850" y="619853"/>
            <a:ext cx="265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err="1">
                <a:latin typeface="Times New Roman" panose="02020603050405020304" pitchFamily="18" charset="0"/>
                <a:cs typeface="Times New Roman" panose="02020603050405020304" pitchFamily="18" charset="0"/>
              </a:rPr>
              <a:t>CaDiCaL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 SAT Solver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1338047-D01B-FE33-2882-769884D9AF7C}"/>
              </a:ext>
            </a:extLst>
          </p:cNvPr>
          <p:cNvSpPr txBox="1"/>
          <p:nvPr/>
        </p:nvSpPr>
        <p:spPr>
          <a:xfrm>
            <a:off x="5186580" y="252207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619698D-8514-C30E-FC52-AA8019E9E032}"/>
              </a:ext>
            </a:extLst>
          </p:cNvPr>
          <p:cNvSpPr txBox="1"/>
          <p:nvPr/>
        </p:nvSpPr>
        <p:spPr>
          <a:xfrm>
            <a:off x="9758704" y="1040989"/>
            <a:ext cx="2186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因為經過實測後發現用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mini sat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解的速度會比較慢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CDF183A-EBA3-6288-57EA-8AD2D4F2899F}"/>
              </a:ext>
            </a:extLst>
          </p:cNvPr>
          <p:cNvSpPr txBox="1"/>
          <p:nvPr/>
        </p:nvSpPr>
        <p:spPr>
          <a:xfrm>
            <a:off x="69850" y="224565"/>
            <a:ext cx="43135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17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的例子中可以看到隨著採用改善後的模型後，解出一個解所花費的時間越來越短；在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的例子中也能看到在用了模型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後才解的出解，用其他兩個模型則花了超過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24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小時的時間都解不出任何解；但在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15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15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的例子中可以看到用模型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所要花費的時間反而比模型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還要長，我認為這可能是因為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sat solver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在用模型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解的時候的運氣比較不好，所以才會花比較久的時間</a:t>
            </a:r>
          </a:p>
          <a:p>
            <a:pPr algn="l"/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8419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AE464F-B45D-98B4-1C49-D994A181D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400">
                <a:latin typeface="微軟正黑體" panose="020B0604030504040204" pitchFamily="34" charset="-120"/>
                <a:ea typeface="微軟正黑體" panose="020B0604030504040204" pitchFamily="34" charset="-120"/>
              </a:rPr>
              <a:t>未來展望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7136E4E-5A93-96F8-CE0E-F41158594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9872" y="2043018"/>
            <a:ext cx="4461426" cy="329546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3ABACC5-BA8B-CD63-93B1-AE1BB43306C4}"/>
              </a:ext>
            </a:extLst>
          </p:cNvPr>
          <p:cNvSpPr txBox="1"/>
          <p:nvPr/>
        </p:nvSpPr>
        <p:spPr>
          <a:xfrm>
            <a:off x="7196734" y="5130151"/>
            <a:ext cx="47821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https://www.gathering4gardner.org/g4g13gift/puzzles/HoffCarl-GiftExchange-FromUntouchable11toHazmatCargo-G4G13.pdf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A27D397-176C-C3AB-C424-700064CCFBD2}"/>
              </a:ext>
            </a:extLst>
          </p:cNvPr>
          <p:cNvSpPr txBox="1"/>
          <p:nvPr/>
        </p:nvSpPr>
        <p:spPr>
          <a:xfrm>
            <a:off x="6420971" y="2097741"/>
            <a:ext cx="50628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在這篇論文中有提到可以把這個問題映射為一個新的問題，在這個問題中只看拼圖塊周圍的那些頂點，棋盤也從原本的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12*12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的格子變成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13*13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的點，規則也從拼圖不能接觸變為任兩塊拼圖的頂點不要重合就好了，這篇論文的作者用原來的方法花了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24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天才找到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12*12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難度的所有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個解，而用了映射後的方法後只花了不到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個小時就找到了所有的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個解</a:t>
            </a:r>
          </a:p>
        </p:txBody>
      </p:sp>
    </p:spTree>
    <p:extLst>
      <p:ext uri="{BB962C8B-B14F-4D97-AF65-F5344CB8AC3E}">
        <p14:creationId xmlns:p14="http://schemas.microsoft.com/office/powerpoint/2010/main" val="2243385978"/>
      </p:ext>
    </p:extLst>
  </p:cSld>
  <p:clrMapOvr>
    <a:masterClrMapping/>
  </p:clrMapOvr>
</p:sld>
</file>

<file path=ppt/theme/theme1.xml><?xml version="1.0" encoding="utf-8"?>
<a:theme xmlns:a="http://schemas.openxmlformats.org/drawingml/2006/main" name="圖庫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TM10001114[[fn=圖庫]]</Template>
  <TotalTime>0</TotalTime>
  <Words>1165</Words>
  <Application>Microsoft Office PowerPoint</Application>
  <PresentationFormat>寬螢幕</PresentationFormat>
  <Paragraphs>68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微軟正黑體</vt:lpstr>
      <vt:lpstr>Arial</vt:lpstr>
      <vt:lpstr>Gill Sans MT</vt:lpstr>
      <vt:lpstr>Times New Roman</vt:lpstr>
      <vt:lpstr>圖庫</vt:lpstr>
      <vt:lpstr>Untouchable 11</vt:lpstr>
      <vt:lpstr>規則</vt:lpstr>
      <vt:lpstr>cnf式子建立(模型A)</vt:lpstr>
      <vt:lpstr>改進方法(模型B)</vt:lpstr>
      <vt:lpstr>改進方法(模型C)</vt:lpstr>
      <vt:lpstr>結果</vt:lpstr>
      <vt:lpstr>花費時間比較</vt:lpstr>
      <vt:lpstr>未來展望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Untouchable 11</dc:title>
  <dc:creator>吳 展宇</dc:creator>
  <cp:lastModifiedBy>吳 展宇</cp:lastModifiedBy>
  <cp:revision>8</cp:revision>
  <dcterms:created xsi:type="dcterms:W3CDTF">2025-10-26T07:15:08Z</dcterms:created>
  <dcterms:modified xsi:type="dcterms:W3CDTF">2025-11-04T17:21:55Z</dcterms:modified>
</cp:coreProperties>
</file>